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42" r:id="rId5"/>
    <p:sldId id="359" r:id="rId6"/>
    <p:sldId id="375" r:id="rId7"/>
    <p:sldId id="378" r:id="rId8"/>
    <p:sldId id="379" r:id="rId9"/>
    <p:sldId id="380" r:id="rId10"/>
    <p:sldId id="3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5388" autoAdjust="0"/>
  </p:normalViewPr>
  <p:slideViewPr>
    <p:cSldViewPr snapToGrid="0" snapToObjects="1" showGuides="1">
      <p:cViewPr varScale="1">
        <p:scale>
          <a:sx n="154" d="100"/>
          <a:sy n="154" d="100"/>
        </p:scale>
        <p:origin x="496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25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9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ak cím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hu-HU"/>
              <a:t>Táblázat beszúrásához kattintson az ikonra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hu-HU"/>
              <a:t>Táblázat beszúrásához kattintson az ikonra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hu-HU" dirty="0" err="1"/>
              <a:t>Intro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Machine</a:t>
            </a:r>
            <a:r>
              <a:rPr lang="hu-HU" dirty="0"/>
              <a:t> </a:t>
            </a:r>
            <a:r>
              <a:rPr lang="hu-HU" dirty="0" err="1"/>
              <a:t>learning</a:t>
            </a:r>
            <a:endParaRPr lang="en-US" dirty="0"/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r>
              <a:rPr lang="hu-HU" dirty="0"/>
              <a:t>Part 2</a:t>
            </a:r>
          </a:p>
          <a:p>
            <a:r>
              <a:rPr lang="en-GB" dirty="0"/>
              <a:t>Juan Alejandro Ramon Ortega</a:t>
            </a:r>
            <a:endParaRPr lang="hu-HU" dirty="0"/>
          </a:p>
          <a:p>
            <a:r>
              <a:rPr lang="en-GB" dirty="0"/>
              <a:t> Erika Saiz</a:t>
            </a:r>
            <a:endParaRPr lang="hu-HU" dirty="0"/>
          </a:p>
          <a:p>
            <a:r>
              <a:rPr lang="en-GB" dirty="0"/>
              <a:t> Dániel Dávid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hu-HU" dirty="0"/>
              <a:t>K-</a:t>
            </a:r>
            <a:r>
              <a:rPr lang="hu-HU" dirty="0" err="1"/>
              <a:t>Means</a:t>
            </a:r>
            <a:r>
              <a:rPr lang="hu-HU" dirty="0"/>
              <a:t> </a:t>
            </a:r>
            <a:r>
              <a:rPr lang="hu-HU" dirty="0" err="1"/>
              <a:t>questions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3097848"/>
            <a:ext cx="4466504" cy="3405187"/>
          </a:xfrm>
        </p:spPr>
        <p:txBody>
          <a:bodyPr anchor="t"/>
          <a:lstStyle/>
          <a:p>
            <a:r>
              <a:rPr lang="hu-HU" dirty="0" err="1"/>
              <a:t>True</a:t>
            </a:r>
            <a:r>
              <a:rPr lang="hu-HU" dirty="0"/>
              <a:t> </a:t>
            </a:r>
            <a:r>
              <a:rPr lang="hu-HU" dirty="0" err="1"/>
              <a:t>labels</a:t>
            </a:r>
            <a:r>
              <a:rPr lang="hu-HU" dirty="0"/>
              <a:t>?</a:t>
            </a:r>
          </a:p>
          <a:p>
            <a:r>
              <a:rPr lang="hu-HU" dirty="0" err="1"/>
              <a:t>Cluster</a:t>
            </a:r>
            <a:r>
              <a:rPr lang="hu-HU" dirty="0"/>
              <a:t> </a:t>
            </a:r>
            <a:r>
              <a:rPr lang="hu-HU" dirty="0" err="1"/>
              <a:t>vs</a:t>
            </a:r>
            <a:r>
              <a:rPr lang="hu-HU" dirty="0"/>
              <a:t> </a:t>
            </a:r>
            <a:r>
              <a:rPr lang="hu-HU" dirty="0" err="1"/>
              <a:t>class</a:t>
            </a:r>
            <a:r>
              <a:rPr lang="hu-HU" dirty="0"/>
              <a:t>?</a:t>
            </a:r>
          </a:p>
          <a:p>
            <a:endParaRPr lang="en-US" dirty="0"/>
          </a:p>
        </p:txBody>
      </p:sp>
      <p:pic>
        <p:nvPicPr>
          <p:cNvPr id="2" name="Kép 1" descr="File:K-means convergence.gif - Wikimedia Commons">
            <a:extLst>
              <a:ext uri="{FF2B5EF4-FFF2-40B4-BE49-F238E27FC236}">
                <a16:creationId xmlns:a16="http://schemas.microsoft.com/office/drawing/2014/main" id="{6B2B416F-8EFD-B78B-20E2-728F52E61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416" y="826260"/>
            <a:ext cx="4857819" cy="4720549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CC102263-8814-7684-743E-59BF41A62A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25" y="4349496"/>
            <a:ext cx="4314103" cy="239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hu-HU" dirty="0"/>
              <a:t>K-</a:t>
            </a:r>
            <a:r>
              <a:rPr lang="hu-HU" dirty="0" err="1"/>
              <a:t>means</a:t>
            </a:r>
            <a:r>
              <a:rPr lang="hu-HU" dirty="0"/>
              <a:t> </a:t>
            </a:r>
            <a:r>
              <a:rPr lang="hu-HU" dirty="0" err="1"/>
              <a:t>initial</a:t>
            </a:r>
            <a:r>
              <a:rPr lang="hu-HU" dirty="0"/>
              <a:t> </a:t>
            </a:r>
            <a:r>
              <a:rPr lang="hu-HU" dirty="0" err="1"/>
              <a:t>results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/>
          <a:lstStyle/>
          <a:p>
            <a:r>
              <a:rPr lang="hu-HU" dirty="0" err="1"/>
              <a:t>Not</a:t>
            </a:r>
            <a:r>
              <a:rPr lang="hu-HU" dirty="0"/>
              <a:t> </a:t>
            </a:r>
            <a:r>
              <a:rPr lang="hu-HU" dirty="0" err="1"/>
              <a:t>too</a:t>
            </a:r>
            <a:r>
              <a:rPr lang="hu-HU" dirty="0"/>
              <a:t> </a:t>
            </a:r>
            <a:r>
              <a:rPr lang="hu-HU" dirty="0" err="1"/>
              <a:t>compact</a:t>
            </a:r>
            <a:endParaRPr lang="hu-HU" dirty="0"/>
          </a:p>
          <a:p>
            <a:r>
              <a:rPr lang="hu-HU" dirty="0" err="1"/>
              <a:t>Correspond</a:t>
            </a:r>
            <a:r>
              <a:rPr lang="hu-HU" dirty="0"/>
              <a:t> </a:t>
            </a:r>
            <a:r>
              <a:rPr lang="hu-HU" dirty="0" err="1"/>
              <a:t>well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D07DCE8C-244A-6402-47D4-4F4C586AE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182" y="3782477"/>
            <a:ext cx="3687830" cy="2962426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3792CF9E-E650-F519-37E7-81CE91A91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0975" y="3782477"/>
            <a:ext cx="4674243" cy="2943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EB8B-0AB9-7554-AEEA-E8D74495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627" y="173736"/>
            <a:ext cx="4352662" cy="2203704"/>
          </a:xfrm>
        </p:spPr>
        <p:txBody>
          <a:bodyPr/>
          <a:lstStyle/>
          <a:p>
            <a:pPr lvl="0"/>
            <a:r>
              <a:rPr lang="hu-HU" noProof="0" dirty="0" err="1"/>
              <a:t>Number</a:t>
            </a:r>
            <a:r>
              <a:rPr lang="hu-HU" noProof="0" dirty="0"/>
              <a:t> of </a:t>
            </a:r>
            <a:r>
              <a:rPr lang="hu-HU" noProof="0" dirty="0" err="1"/>
              <a:t>clusters</a:t>
            </a:r>
            <a:endParaRPr lang="en-US" noProof="0" dirty="0"/>
          </a:p>
        </p:txBody>
      </p:sp>
      <p:pic>
        <p:nvPicPr>
          <p:cNvPr id="6" name="Picture Placeholder 5" descr="A blue and purple spiral">
            <a:extLst>
              <a:ext uri="{FF2B5EF4-FFF2-40B4-BE49-F238E27FC236}">
                <a16:creationId xmlns:a16="http://schemas.microsoft.com/office/drawing/2014/main" id="{05B64636-376E-96D4-B550-D764B2C6A6A7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2" b="202"/>
          <a:stretch/>
        </p:blipFill>
        <p:spPr>
          <a:xfrm>
            <a:off x="336550" y="336550"/>
            <a:ext cx="5303640" cy="61849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F5F9A-B16D-CA49-7F40-A0142E41DC5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889627" y="3104277"/>
            <a:ext cx="4371560" cy="3022201"/>
          </a:xfrm>
        </p:spPr>
        <p:txBody>
          <a:bodyPr/>
          <a:lstStyle/>
          <a:p>
            <a:r>
              <a:rPr lang="hu-HU" dirty="0"/>
              <a:t>WSS (2 - 8): </a:t>
            </a:r>
            <a:r>
              <a:rPr lang="en-GB" dirty="0"/>
              <a:t>628</a:t>
            </a:r>
            <a:r>
              <a:rPr lang="hu-HU" dirty="0"/>
              <a:t> -&gt; </a:t>
            </a:r>
            <a:r>
              <a:rPr lang="en-GB" dirty="0"/>
              <a:t> 259</a:t>
            </a:r>
            <a:r>
              <a:rPr lang="hu-HU" dirty="0"/>
              <a:t> -&gt; </a:t>
            </a:r>
            <a:r>
              <a:rPr lang="en-GB" dirty="0"/>
              <a:t>201</a:t>
            </a:r>
            <a:r>
              <a:rPr lang="hu-HU" dirty="0"/>
              <a:t> -&gt; </a:t>
            </a:r>
            <a:r>
              <a:rPr lang="en-GB" dirty="0"/>
              <a:t>169</a:t>
            </a:r>
            <a:r>
              <a:rPr lang="hu-HU" dirty="0"/>
              <a:t> -&gt; </a:t>
            </a:r>
            <a:r>
              <a:rPr lang="en-GB" dirty="0"/>
              <a:t>123</a:t>
            </a:r>
            <a:r>
              <a:rPr lang="hu-HU" dirty="0"/>
              <a:t> -&gt; </a:t>
            </a:r>
            <a:r>
              <a:rPr lang="en-GB" dirty="0"/>
              <a:t>104</a:t>
            </a:r>
            <a:r>
              <a:rPr lang="hu-HU" dirty="0"/>
              <a:t> -&gt; </a:t>
            </a:r>
            <a:r>
              <a:rPr lang="en-GB" dirty="0"/>
              <a:t>91</a:t>
            </a:r>
            <a:endParaRPr lang="hu-HU" dirty="0"/>
          </a:p>
          <a:p>
            <a:r>
              <a:rPr lang="hu-HU" dirty="0"/>
              <a:t>Strongest </a:t>
            </a:r>
            <a:r>
              <a:rPr lang="hu-HU" dirty="0" err="1"/>
              <a:t>agreement</a:t>
            </a:r>
            <a:r>
              <a:rPr lang="hu-HU" dirty="0"/>
              <a:t>: k = 3</a:t>
            </a:r>
          </a:p>
          <a:p>
            <a:r>
              <a:rPr lang="hu-HU" dirty="0" err="1"/>
              <a:t>True</a:t>
            </a:r>
            <a:r>
              <a:rPr lang="hu-HU" dirty="0"/>
              <a:t> </a:t>
            </a:r>
            <a:r>
              <a:rPr lang="hu-HU" dirty="0" err="1"/>
              <a:t>labels</a:t>
            </a:r>
            <a:r>
              <a:rPr lang="hu-HU" dirty="0"/>
              <a:t>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DB868-BEE2-49F7-9AC5-A3B14388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07CB509F-5F96-EF93-D023-15E2752E0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770" y="3516924"/>
            <a:ext cx="4712294" cy="2967484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F92F4EED-4B39-D124-3AA0-A8ED2CF40A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770" y="373593"/>
            <a:ext cx="4359775" cy="273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315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DE3104-398C-EF95-D86E-630F51248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171396"/>
            <a:ext cx="3736630" cy="2202350"/>
          </a:xfrm>
        </p:spPr>
        <p:txBody>
          <a:bodyPr/>
          <a:lstStyle/>
          <a:p>
            <a:pPr lvl="0"/>
            <a:r>
              <a:rPr lang="hu-HU" noProof="0" dirty="0" err="1"/>
              <a:t>Elbow</a:t>
            </a:r>
            <a:r>
              <a:rPr lang="hu-HU" noProof="0" dirty="0"/>
              <a:t> </a:t>
            </a:r>
            <a:r>
              <a:rPr lang="hu-HU" noProof="0" dirty="0" err="1"/>
              <a:t>method</a:t>
            </a:r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28E6B-D306-C2F9-54E9-FD35599AC24B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41716" y="3078480"/>
            <a:ext cx="3108193" cy="3047997"/>
          </a:xfrm>
        </p:spPr>
        <p:txBody>
          <a:bodyPr/>
          <a:lstStyle/>
          <a:p>
            <a:r>
              <a:rPr lang="hu-HU" dirty="0" err="1"/>
              <a:t>Winner</a:t>
            </a:r>
            <a:r>
              <a:rPr lang="hu-HU" dirty="0"/>
              <a:t>: k = 3</a:t>
            </a:r>
          </a:p>
          <a:p>
            <a:endParaRPr lang="en-US" dirty="0"/>
          </a:p>
        </p:txBody>
      </p:sp>
      <p:sp>
        <p:nvSpPr>
          <p:cNvPr id="6" name="Táblázat helye 5">
            <a:extLst>
              <a:ext uri="{FF2B5EF4-FFF2-40B4-BE49-F238E27FC236}">
                <a16:creationId xmlns:a16="http://schemas.microsoft.com/office/drawing/2014/main" id="{930D9CD1-F82A-DF4B-33FA-05E83216143C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B1D987FB-CA90-6452-9AB5-DCA71C550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677" y="288272"/>
            <a:ext cx="4434411" cy="3520685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03AF3FF5-417C-1A91-93BD-3A90F1BDA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7778" y="3925498"/>
            <a:ext cx="4048210" cy="285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71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/>
          <a:lstStyle/>
          <a:p>
            <a:r>
              <a:rPr lang="hu-HU" dirty="0"/>
              <a:t>Per </a:t>
            </a:r>
            <a:r>
              <a:rPr lang="hu-HU" dirty="0" err="1"/>
              <a:t>cluster</a:t>
            </a:r>
            <a:r>
              <a:rPr lang="hu-HU" dirty="0"/>
              <a:t> </a:t>
            </a:r>
            <a:r>
              <a:rPr lang="hu-HU" dirty="0" err="1"/>
              <a:t>silhouette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359171" y="2271520"/>
            <a:ext cx="7924217" cy="3873672"/>
          </a:xfrm>
        </p:spPr>
        <p:txBody>
          <a:bodyPr/>
          <a:lstStyle/>
          <a:p>
            <a:r>
              <a:rPr lang="hu-HU" sz="2400" dirty="0"/>
              <a:t>K = 3</a:t>
            </a:r>
            <a:endParaRPr lang="en-US" sz="2400" dirty="0"/>
          </a:p>
          <a:p>
            <a:pPr lvl="1"/>
            <a:r>
              <a:rPr lang="en-GB" sz="2400" dirty="0"/>
              <a:t>0.4</a:t>
            </a:r>
            <a:r>
              <a:rPr lang="hu-HU" sz="2400" dirty="0"/>
              <a:t>5</a:t>
            </a:r>
            <a:r>
              <a:rPr lang="en-GB" sz="2400" dirty="0"/>
              <a:t>,</a:t>
            </a:r>
            <a:r>
              <a:rPr lang="hu-HU" sz="2400" dirty="0"/>
              <a:t> </a:t>
            </a:r>
            <a:r>
              <a:rPr lang="en-GB" sz="2400" dirty="0"/>
              <a:t>0.6</a:t>
            </a:r>
            <a:r>
              <a:rPr lang="hu-HU" sz="2400" dirty="0"/>
              <a:t>2</a:t>
            </a:r>
            <a:r>
              <a:rPr lang="en-GB" sz="2400" dirty="0"/>
              <a:t>, 0.6</a:t>
            </a:r>
            <a:r>
              <a:rPr lang="hu-HU" sz="2400" dirty="0"/>
              <a:t>5</a:t>
            </a:r>
          </a:p>
          <a:p>
            <a:r>
              <a:rPr lang="hu-HU" sz="2400" dirty="0"/>
              <a:t>K = 4</a:t>
            </a:r>
            <a:endParaRPr lang="en-US" sz="2400" dirty="0"/>
          </a:p>
          <a:p>
            <a:pPr lvl="1"/>
            <a:r>
              <a:rPr lang="en-GB" sz="2400" dirty="0"/>
              <a:t>0.32</a:t>
            </a:r>
            <a:r>
              <a:rPr lang="hu-HU" sz="2400" dirty="0"/>
              <a:t>, </a:t>
            </a:r>
            <a:r>
              <a:rPr lang="en-GB" sz="2400" dirty="0"/>
              <a:t>0.</a:t>
            </a:r>
            <a:r>
              <a:rPr lang="hu-HU" sz="2400" dirty="0"/>
              <a:t>49</a:t>
            </a:r>
            <a:r>
              <a:rPr lang="en-GB" sz="2400" dirty="0"/>
              <a:t>, 0.53, 0.59</a:t>
            </a:r>
            <a:endParaRPr lang="hu-HU" sz="2400" dirty="0"/>
          </a:p>
          <a:p>
            <a:r>
              <a:rPr lang="hu-HU" sz="2400" dirty="0"/>
              <a:t>K = 5</a:t>
            </a:r>
          </a:p>
          <a:p>
            <a:pPr lvl="1"/>
            <a:r>
              <a:rPr lang="en-GB" sz="2400" dirty="0"/>
              <a:t>0.29, 0.4</a:t>
            </a:r>
            <a:r>
              <a:rPr lang="hu-HU" sz="2400" dirty="0"/>
              <a:t>5</a:t>
            </a:r>
            <a:r>
              <a:rPr lang="en-GB" sz="2400" dirty="0"/>
              <a:t>, 0.4</a:t>
            </a:r>
            <a:r>
              <a:rPr lang="hu-HU" sz="2400" dirty="0"/>
              <a:t>5</a:t>
            </a:r>
            <a:r>
              <a:rPr lang="en-GB" sz="2400" dirty="0"/>
              <a:t>, 0.49, 0.5</a:t>
            </a:r>
            <a:r>
              <a:rPr lang="hu-HU" sz="2400" dirty="0"/>
              <a:t>9</a:t>
            </a:r>
          </a:p>
          <a:p>
            <a:r>
              <a:rPr lang="hu-HU" sz="2400" dirty="0"/>
              <a:t>K = 8</a:t>
            </a:r>
          </a:p>
          <a:p>
            <a:pPr lvl="1"/>
            <a:r>
              <a:rPr lang="en-GB" sz="2400" dirty="0"/>
              <a:t>0.2</a:t>
            </a:r>
            <a:r>
              <a:rPr lang="hu-HU" sz="2400" dirty="0"/>
              <a:t>8</a:t>
            </a:r>
            <a:r>
              <a:rPr lang="en-GB" sz="2400" dirty="0"/>
              <a:t>, 0.3</a:t>
            </a:r>
            <a:r>
              <a:rPr lang="hu-HU" sz="2400" dirty="0"/>
              <a:t>5</a:t>
            </a:r>
            <a:r>
              <a:rPr lang="en-GB" sz="2400" dirty="0"/>
              <a:t>, 0.4</a:t>
            </a:r>
            <a:r>
              <a:rPr lang="hu-HU" sz="2400" dirty="0"/>
              <a:t>0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497D314F-A0F9-175C-ED15-A5F15CF35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161" y="2859051"/>
            <a:ext cx="5940674" cy="3765371"/>
          </a:xfrm>
          <a:prstGeom prst="rect">
            <a:avLst/>
          </a:prstGeom>
        </p:spPr>
      </p:pic>
      <p:sp>
        <p:nvSpPr>
          <p:cNvPr id="9" name="Tartalom helye 8">
            <a:extLst>
              <a:ext uri="{FF2B5EF4-FFF2-40B4-BE49-F238E27FC236}">
                <a16:creationId xmlns:a16="http://schemas.microsoft.com/office/drawing/2014/main" id="{A31782BD-120B-78F0-97DC-C65CD7508E57}"/>
              </a:ext>
            </a:extLst>
          </p:cNvPr>
          <p:cNvSpPr>
            <a:spLocks noGrp="1"/>
          </p:cNvSpPr>
          <p:nvPr>
            <p:ph sz="quarter" idx="37"/>
          </p:nvPr>
        </p:nvSpPr>
        <p:spPr/>
        <p:txBody>
          <a:bodyPr/>
          <a:lstStyle/>
          <a:p>
            <a:r>
              <a:rPr lang="hu-HU" dirty="0" err="1"/>
              <a:t>Example</a:t>
            </a:r>
            <a:r>
              <a:rPr lang="hu-HU" dirty="0"/>
              <a:t>: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695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E5F2E56-9F77-E1C2-EC04-EA959822CA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850" y="3079119"/>
            <a:ext cx="4413250" cy="27527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Scientific findings presentation</Template>
  <TotalTime>94</TotalTime>
  <Words>137</Words>
  <Application>Microsoft Office PowerPoint</Application>
  <PresentationFormat>Szélesvásznú</PresentationFormat>
  <Paragraphs>38</Paragraphs>
  <Slides>7</Slides>
  <Notes>7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2" baseType="lpstr">
      <vt:lpstr>Arial</vt:lpstr>
      <vt:lpstr>Arial Nova</vt:lpstr>
      <vt:lpstr>Biome</vt:lpstr>
      <vt:lpstr>Calibri</vt:lpstr>
      <vt:lpstr>Custom</vt:lpstr>
      <vt:lpstr>Intro to Machine learning</vt:lpstr>
      <vt:lpstr>K-Means questions</vt:lpstr>
      <vt:lpstr>K-means initial results</vt:lpstr>
      <vt:lpstr>Number of clusters</vt:lpstr>
      <vt:lpstr>Elbow method</vt:lpstr>
      <vt:lpstr>Per cluster silhouette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Dániel Dávid</dc:creator>
  <cp:lastModifiedBy>Dániel Dávid</cp:lastModifiedBy>
  <cp:revision>1</cp:revision>
  <dcterms:created xsi:type="dcterms:W3CDTF">2026-10-13T07:35:16Z</dcterms:created>
  <dcterms:modified xsi:type="dcterms:W3CDTF">2026-10-13T09:09:49Z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